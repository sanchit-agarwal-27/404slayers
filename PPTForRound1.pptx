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6858000" cy="9144000"/>
  <p:embeddedFontLst>
    <p:embeddedFont>
      <p:font typeface="DM Mono" panose="020B0509040201040103" pitchFamily="49" charset="0"/>
      <p:regular r:id="rId11"/>
      <p:italic r:id="rId12"/>
    </p:embeddedFont>
    <p:embeddedFont>
      <p:font typeface="DM Sans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BCB636B-64DE-462C-B62F-6A22E39D95B0}">
  <a:tblStyle styleId="{7BCB636B-64DE-462C-B62F-6A22E39D95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370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409fc21eb09_3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409fc21eb09_3_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g409fc21eb09_3_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409fc21eb09_3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g409fc21eb09_3_16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g409fc21eb09_3_16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409fc21eb09_3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g409fc21eb09_3_27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g409fc21eb09_3_27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409fc21eb09_3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409fc21eb09_3_46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409fc21eb09_3_46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409fc21eb09_3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g409fc21eb09_3_6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409fc21eb09_3_6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09fc21eb09_3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409fc21eb09_3_8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409fc21eb09_3_8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409fc21eb09_3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409fc21eb09_3_101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409fc21eb09_3_101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hyperlink" Target="mailto:Sanchit.agarwal2024@vitstudent.ac.in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/>
        </p:nvSpPr>
        <p:spPr>
          <a:xfrm>
            <a:off x="457200" y="32004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MULTIPLI HACKATHON  / 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 txBox="1"/>
          <p:nvPr/>
        </p:nvSpPr>
        <p:spPr>
          <a:xfrm>
            <a:off x="5029200" y="32004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BUILT FOR THE BUILDERS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15" descr="/private/tmp/claude-501/-Users-gauthampharish-Hackathon/a8b21bb2-63c7-4790-96ac-9605a5beff0c/scratchpad/assets/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11880" y="1097280"/>
            <a:ext cx="1920240" cy="507663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 txBox="1"/>
          <p:nvPr/>
        </p:nvSpPr>
        <p:spPr>
          <a:xfrm>
            <a:off x="2286000" y="182880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DM Mono"/>
              <a:buNone/>
            </a:pPr>
            <a:r>
              <a:rPr lang="en-GB" sz="9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ROUND 1  ·  IDEA SUBMISSION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 txBox="1"/>
          <p:nvPr/>
        </p:nvSpPr>
        <p:spPr>
          <a:xfrm>
            <a:off x="685800" y="2194560"/>
            <a:ext cx="77724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DM Sans"/>
              <a:buNone/>
            </a:pPr>
            <a:r>
              <a:rPr lang="en-GB" sz="44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404Slayers</a:t>
            </a:r>
            <a:endParaRPr sz="4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 txBox="1"/>
          <p:nvPr/>
        </p:nvSpPr>
        <p:spPr>
          <a:xfrm>
            <a:off x="1371600" y="30632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buClr>
                <a:srgbClr val="A6A6A6"/>
              </a:buClr>
              <a:buSzPts val="1300"/>
            </a:pPr>
            <a:r>
              <a:rPr lang="en-IN" b="1" dirty="0">
                <a:solidFill>
                  <a:schemeClr val="bg1"/>
                </a:solidFill>
              </a:rPr>
              <a:t>Web3 Wallet and Contract Reputation System</a:t>
            </a:r>
            <a:endParaRPr lang="en-GB" sz="13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 txBox="1"/>
          <p:nvPr/>
        </p:nvSpPr>
        <p:spPr>
          <a:xfrm>
            <a:off x="457200" y="464515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19–20 SEPTEMBER 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" name="Google Shape;64;p15"/>
          <p:cNvCxnSpPr/>
          <p:nvPr/>
        </p:nvCxnSpPr>
        <p:spPr>
          <a:xfrm>
            <a:off x="2926080" y="4736592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" name="Google Shape;65;p15"/>
          <p:cNvSpPr txBox="1"/>
          <p:nvPr/>
        </p:nvSpPr>
        <p:spPr>
          <a:xfrm>
            <a:off x="5943600" y="464515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36 HOURS. MAKE THEM COUNT.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descr="/private/tmp/claude-501/-Users-gauthampharish-Hackathon/a8b21bb2-63c7-4790-96ac-9605a5beff0c/scratchpad/assets/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310896"/>
            <a:ext cx="868680" cy="229657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5029200" y="329184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HACKATHON 2026  /  ROUND 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lang="en-GB" sz="800" b="0" i="0" u="none" strike="noStrike" cap="none" dirty="0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404Slayers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6858000" y="475488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02 / 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457200" y="73152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DM Mono"/>
              <a:buNone/>
            </a:pPr>
            <a:r>
              <a:rPr lang="en-GB" sz="9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01  ·  THE TEAM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DM Sans"/>
              <a:buNone/>
            </a:pPr>
            <a:r>
              <a:rPr lang="en-GB" sz="28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Team details</a:t>
            </a:r>
            <a:r>
              <a:rPr lang="en-GB" sz="2800" b="1" i="0" u="none" strike="noStrike" cap="none">
                <a:solidFill>
                  <a:srgbClr val="70707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7" name="Google Shape;77;p16"/>
          <p:cNvGraphicFramePr/>
          <p:nvPr>
            <p:extLst>
              <p:ext uri="{D42A27DB-BD31-4B8C-83A1-F6EECF244321}">
                <p14:modId xmlns:p14="http://schemas.microsoft.com/office/powerpoint/2010/main" val="2514781750"/>
              </p:ext>
            </p:extLst>
          </p:nvPr>
        </p:nvGraphicFramePr>
        <p:xfrm>
          <a:off x="457200" y="1691640"/>
          <a:ext cx="8229600" cy="2395750"/>
        </p:xfrm>
        <a:graphic>
          <a:graphicData uri="http://schemas.openxmlformats.org/drawingml/2006/table">
            <a:tbl>
              <a:tblPr>
                <a:noFill/>
                <a:tableStyleId>{7BCB636B-64DE-462C-B62F-6A22E39D95B0}</a:tableStyleId>
              </a:tblPr>
              <a:tblGrid>
                <a:gridCol w="118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9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endParaRPr sz="800" u="none" strike="noStrike" cap="none"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31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800"/>
                        <a:buFont typeface="DM Mono"/>
                        <a:buNone/>
                      </a:pPr>
                      <a:r>
                        <a:rPr lang="en-GB" sz="800" u="none" strike="noStrike" cap="none">
                          <a:solidFill>
                            <a:srgbClr val="A6A6A6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NAME</a:t>
                      </a:r>
                      <a:endParaRPr sz="800" u="none" strike="noStrike" cap="none"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31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800"/>
                        <a:buFont typeface="DM Mono"/>
                        <a:buNone/>
                      </a:pPr>
                      <a:r>
                        <a:rPr lang="en-GB" sz="800" u="none" strike="noStrike" cap="none">
                          <a:solidFill>
                            <a:srgbClr val="A6A6A6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EMAIL</a:t>
                      </a:r>
                      <a:endParaRPr sz="800" u="none" strike="noStrike" cap="none"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31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800"/>
                        <a:buFont typeface="DM Mono"/>
                        <a:buNone/>
                      </a:pPr>
                      <a:r>
                        <a:rPr lang="en-GB" sz="800" u="none" strike="noStrike" cap="none">
                          <a:solidFill>
                            <a:srgbClr val="A6A6A6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COLLEGE / COMPANY</a:t>
                      </a:r>
                      <a:endParaRPr sz="800" u="none" strike="noStrike" cap="none"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3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800"/>
                        <a:buFont typeface="DM Mono"/>
                        <a:buNone/>
                      </a:pPr>
                      <a:r>
                        <a:rPr lang="en-GB" sz="800" u="none" strike="noStrike" cap="none" dirty="0">
                          <a:solidFill>
                            <a:srgbClr val="A6A6A6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MEMBER 1</a:t>
                      </a:r>
                      <a:endParaRPr sz="800" u="none" strike="noStrike" cap="none" dirty="0"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7070"/>
                        </a:buClr>
                        <a:buSzPts val="1100"/>
                        <a:buFont typeface="DM Sans"/>
                        <a:buNone/>
                      </a:pPr>
                      <a:r>
                        <a:rPr lang="en-GB" sz="1100" u="none" strike="noStrike" cap="none" dirty="0">
                          <a:solidFill>
                            <a:srgbClr val="70707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Sanchit Agarwal</a:t>
                      </a:r>
                      <a:endParaRPr sz="1100" u="none" strike="noStrike" cap="none" dirty="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7070"/>
                        </a:buClr>
                        <a:buSzPts val="1100"/>
                        <a:buFont typeface="DM Sans"/>
                        <a:buNone/>
                      </a:pPr>
                      <a:r>
                        <a:rPr lang="en-GB" sz="1100" u="none" strike="noStrike" cap="none" dirty="0">
                          <a:solidFill>
                            <a:srgbClr val="70707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  <a:hlinkClick r:id="rId5"/>
                        </a:rPr>
                        <a:t>sanchit.agarwal2024@vitstudent.ac.in</a:t>
                      </a:r>
                      <a:endParaRPr sz="1100" u="none" strike="noStrike" cap="none" dirty="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7070"/>
                        </a:buClr>
                        <a:buSzPts val="1100"/>
                        <a:buFont typeface="DM Sans"/>
                        <a:buNone/>
                      </a:pPr>
                      <a:r>
                        <a:rPr lang="en-GB" sz="1100" u="none" strike="noStrike" cap="none" dirty="0">
                          <a:solidFill>
                            <a:srgbClr val="70707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VIT , Vellore</a:t>
                      </a:r>
                      <a:endParaRPr sz="1100" u="none" strike="noStrike" cap="none" dirty="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800"/>
                        <a:buFont typeface="DM Mono"/>
                        <a:buNone/>
                      </a:pPr>
                      <a:r>
                        <a:rPr lang="en-GB" sz="800" u="none" strike="noStrike" cap="none">
                          <a:solidFill>
                            <a:srgbClr val="A6A6A6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MEMBER 2</a:t>
                      </a:r>
                      <a:endParaRPr sz="800" u="none" strike="noStrike" cap="none"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7070"/>
                        </a:buClr>
                        <a:buSzPts val="1100"/>
                        <a:buFont typeface="DM Sans"/>
                        <a:buNone/>
                      </a:pPr>
                      <a:r>
                        <a:rPr lang="en-GB" sz="1100" u="none" strike="noStrike" cap="none" dirty="0">
                          <a:solidFill>
                            <a:srgbClr val="70707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 Giridharan</a:t>
                      </a:r>
                      <a:endParaRPr sz="1100" u="none" strike="noStrike" cap="none" dirty="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7070"/>
                        </a:buClr>
                        <a:buSzPts val="1100"/>
                        <a:buFont typeface="DM Sans"/>
                        <a:buNone/>
                      </a:pPr>
                      <a:r>
                        <a:rPr lang="en-GB" sz="1100" u="none" strike="noStrike" cap="none" dirty="0">
                          <a:solidFill>
                            <a:srgbClr val="70707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giridharan.s2024a@vitstudent.ac.in</a:t>
                      </a:r>
                      <a:endParaRPr sz="1100" u="none" strike="noStrike" cap="none" dirty="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7070"/>
                        </a:buClr>
                        <a:buSzPts val="1100"/>
                        <a:buFont typeface="DM Sans"/>
                        <a:buNone/>
                      </a:pPr>
                      <a:r>
                        <a:rPr lang="en-GB" sz="1100" u="none" strike="noStrike" cap="none" dirty="0">
                          <a:solidFill>
                            <a:srgbClr val="70707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VIT, Vellore</a:t>
                      </a:r>
                      <a:endParaRPr sz="1100" u="none" strike="noStrike" cap="none" dirty="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800"/>
                        <a:buFont typeface="DM Mono"/>
                        <a:buNone/>
                      </a:pPr>
                      <a:r>
                        <a:rPr lang="en-GB" sz="800" u="none" strike="noStrike" cap="none">
                          <a:solidFill>
                            <a:srgbClr val="A6A6A6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MEMBER 3</a:t>
                      </a:r>
                      <a:endParaRPr sz="800" u="none" strike="noStrike" cap="none"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7070"/>
                        </a:buClr>
                        <a:buSzPts val="1100"/>
                        <a:buFont typeface="DM Sans"/>
                        <a:buNone/>
                      </a:pPr>
                      <a:r>
                        <a:rPr lang="en-GB" sz="1100" u="none" strike="noStrike" cap="none" dirty="0">
                          <a:solidFill>
                            <a:srgbClr val="70707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Aman Gupta</a:t>
                      </a:r>
                      <a:endParaRPr sz="1100" u="none" strike="noStrike" cap="none" dirty="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7070"/>
                        </a:buClr>
                        <a:buSzPts val="1100"/>
                        <a:buFont typeface="DM Sans"/>
                        <a:buNone/>
                      </a:pPr>
                      <a:r>
                        <a:rPr lang="en-GB" sz="1100" u="none" strike="noStrike" cap="none" dirty="0">
                          <a:solidFill>
                            <a:srgbClr val="70707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aman.gupta2024@vitstudent.ac.in</a:t>
                      </a:r>
                      <a:endParaRPr sz="1100" u="none" strike="noStrike" cap="none" dirty="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7070"/>
                        </a:buClr>
                        <a:buSzPts val="1100"/>
                        <a:buFont typeface="DM Sans"/>
                        <a:buNone/>
                      </a:pPr>
                      <a:r>
                        <a:rPr lang="en-GB" sz="1100" u="none" strike="noStrike" cap="none" dirty="0">
                          <a:solidFill>
                            <a:srgbClr val="70707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VIT, Vellore</a:t>
                      </a:r>
                      <a:endParaRPr sz="1100" u="none" strike="noStrike" cap="none" dirty="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800"/>
                        <a:buFont typeface="DM Mono"/>
                        <a:buNone/>
                      </a:pPr>
                      <a:r>
                        <a:rPr lang="en-GB" sz="800" u="none" strike="noStrike" cap="none">
                          <a:solidFill>
                            <a:srgbClr val="A6A6A6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MEMBER 4</a:t>
                      </a:r>
                      <a:endParaRPr sz="800" u="none" strike="noStrike" cap="none"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7070"/>
                        </a:buClr>
                        <a:buSzPts val="1100"/>
                        <a:buFont typeface="DM Sans"/>
                        <a:buNone/>
                      </a:pPr>
                      <a:r>
                        <a:rPr lang="en-GB" sz="1100" u="none" strike="noStrike" cap="none" dirty="0" err="1">
                          <a:solidFill>
                            <a:srgbClr val="70707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Vishavjeet</a:t>
                      </a:r>
                      <a:r>
                        <a:rPr lang="en-GB" sz="1100" u="none" strike="noStrike" cap="none" dirty="0">
                          <a:solidFill>
                            <a:srgbClr val="70707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Sharma</a:t>
                      </a:r>
                      <a:endParaRPr sz="1100" u="none" strike="noStrike" cap="none" dirty="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7070"/>
                        </a:buClr>
                        <a:buSzPts val="1100"/>
                        <a:buFont typeface="DM Sans"/>
                        <a:buNone/>
                      </a:pPr>
                      <a:r>
                        <a:rPr lang="en-GB" sz="1100" u="none" strike="noStrike" cap="none" dirty="0">
                          <a:solidFill>
                            <a:srgbClr val="70707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vishavjeet.sharma2024@vitstudent.ac.in</a:t>
                      </a:r>
                      <a:endParaRPr lang="en-GB" sz="1100" u="none" strike="noStrike" cap="none" dirty="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7070"/>
                        </a:buClr>
                        <a:buSzPts val="1100"/>
                        <a:buFont typeface="DM Sans"/>
                        <a:buNone/>
                      </a:pPr>
                      <a:r>
                        <a:rPr lang="en-GB" sz="1100" u="none" strike="noStrike" cap="none" dirty="0">
                          <a:solidFill>
                            <a:srgbClr val="70707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VIT, Vellore</a:t>
                      </a:r>
                      <a:endParaRPr sz="1100" u="none" strike="noStrike" cap="none" dirty="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descr="/private/tmp/claude-501/-Users-gauthampharish-Hackathon/a8b21bb2-63c7-4790-96ac-9605a5beff0c/scratchpad/assets/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310896"/>
            <a:ext cx="868680" cy="229657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5029200" y="329184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HACKATHON 2026  /  ROUND 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lang="en-GB" sz="800" b="0" i="0" u="none" strike="noStrike" cap="none" dirty="0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404Slayers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6858000" y="475488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03 / 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457200" y="73152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DM Mono"/>
              <a:buNone/>
            </a:pPr>
            <a:r>
              <a:rPr lang="en-GB" sz="9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02  ·  THE PROBLEM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DM Sans"/>
              <a:buNone/>
            </a:pPr>
            <a:r>
              <a:rPr lang="en-GB" sz="28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problem</a:t>
            </a:r>
            <a:r>
              <a:rPr lang="en-GB" sz="2800" b="1" i="0" u="none" strike="noStrike" cap="none">
                <a:solidFill>
                  <a:srgbClr val="70707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457200" y="1645920"/>
            <a:ext cx="3291840" cy="2834640"/>
          </a:xfrm>
          <a:prstGeom prst="roundRect">
            <a:avLst>
              <a:gd name="adj" fmla="val 3871"/>
            </a:avLst>
          </a:prstGeom>
          <a:solidFill>
            <a:srgbClr val="131313"/>
          </a:solidFill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7"/>
          <p:cNvSpPr txBox="1"/>
          <p:nvPr/>
        </p:nvSpPr>
        <p:spPr>
          <a:xfrm>
            <a:off x="685800" y="184708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PROBLEM STATEMENT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685800" y="2148840"/>
            <a:ext cx="28346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FFFFFF"/>
              </a:buClr>
              <a:buSzPts val="1800"/>
            </a:pPr>
            <a:r>
              <a:rPr lang="en-IN" b="1" dirty="0">
                <a:solidFill>
                  <a:schemeClr val="bg1">
                    <a:lumMod val="50000"/>
                  </a:schemeClr>
                </a:solidFill>
              </a:rPr>
              <a:t>Wallet and Contract Reputation</a:t>
            </a:r>
          </a:p>
          <a:p>
            <a:pPr lvl="0">
              <a:buClr>
                <a:srgbClr val="FFFFFF"/>
              </a:buClr>
              <a:buSzPts val="1800"/>
            </a:pPr>
            <a:endParaRPr lang="en-U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3931920" y="1645920"/>
            <a:ext cx="4754880" cy="1325880"/>
          </a:xfrm>
          <a:prstGeom prst="roundRect">
            <a:avLst>
              <a:gd name="adj" fmla="val 8276"/>
            </a:avLst>
          </a:prstGeom>
          <a:solidFill>
            <a:srgbClr val="0B0B0B"/>
          </a:solidFill>
          <a:ln w="9525" cap="flat" cmpd="sng">
            <a:solidFill>
              <a:srgbClr val="2121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7"/>
          <p:cNvSpPr txBox="1"/>
          <p:nvPr/>
        </p:nvSpPr>
        <p:spPr>
          <a:xfrm>
            <a:off x="4160520" y="1847088"/>
            <a:ext cx="42976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 dirty="0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WHAT IS BROKEN?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4160520" y="2103120"/>
            <a:ext cx="42976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707070"/>
              </a:buClr>
              <a:buSzPts val="1200"/>
            </a:pPr>
            <a:r>
              <a:rPr lang="en-IN" b="1" dirty="0">
                <a:solidFill>
                  <a:schemeClr val="bg1">
                    <a:lumMod val="50000"/>
                  </a:schemeClr>
                </a:solidFill>
              </a:rPr>
              <a:t>Web3 users often interact with unknown wallets and smart contracts without knowing their reputation or exposure to malicious activity.</a:t>
            </a:r>
            <a:endParaRPr sz="1200" b="1" i="0" u="none" strike="noStrike" cap="none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3931920" y="3154680"/>
            <a:ext cx="4754880" cy="1325880"/>
          </a:xfrm>
          <a:prstGeom prst="roundRect">
            <a:avLst>
              <a:gd name="adj" fmla="val 8276"/>
            </a:avLst>
          </a:prstGeom>
          <a:solidFill>
            <a:srgbClr val="0B0B0B"/>
          </a:solidFill>
          <a:ln w="9525" cap="flat" cmpd="sng">
            <a:solidFill>
              <a:srgbClr val="2121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4160520" y="3355848"/>
            <a:ext cx="42976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 dirty="0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WHY IT MATTERS?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4160520" y="3611880"/>
            <a:ext cx="439928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707070"/>
              </a:buClr>
              <a:buSzPts val="1200"/>
            </a:pPr>
            <a:r>
              <a:rPr lang="en-IN" sz="10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One interaction with a malicious wallet or </a:t>
            </a:r>
            <a:r>
              <a:rPr lang="en-IN" sz="1000" dirty="0">
                <a:solidFill>
                  <a:schemeClr val="bg1">
                    <a:lumMod val="50000"/>
                  </a:schemeClr>
                </a:solidFill>
                <a:latin typeface="+mn-lt"/>
                <a:ea typeface="Calibri"/>
                <a:cs typeface="Calibri"/>
              </a:rPr>
              <a:t>contract</a:t>
            </a:r>
            <a:r>
              <a:rPr lang="en-IN" sz="10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 can expose users to scams, phishing, drainers, or other attacks .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+mn-lt"/>
                <a:ea typeface="Calibri"/>
                <a:cs typeface="Calibri"/>
                <a:sym typeface="Calibri"/>
              </a:rPr>
              <a:t> Current security tools rely on opaque labels 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+mn-lt"/>
                <a:sym typeface="Calibri"/>
              </a:rPr>
              <a:t>rather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+mn-lt"/>
                <a:ea typeface="Calibri"/>
                <a:cs typeface="Calibri"/>
                <a:sym typeface="Calibri"/>
              </a:rPr>
              <a:t> than actionable proof . Solving this will deliver explainable trust layer essential to protect funds. </a:t>
            </a:r>
            <a:endParaRPr sz="1000" i="0" u="none" strike="noStrike" cap="none" dirty="0">
              <a:solidFill>
                <a:schemeClr val="bg1">
                  <a:lumMod val="50000"/>
                </a:schemeClr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8" descr="/private/tmp/claude-501/-Users-gauthampharish-Hackathon/a8b21bb2-63c7-4790-96ac-9605a5beff0c/scratchpad/assets/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310896"/>
            <a:ext cx="868680" cy="22965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 txBox="1"/>
          <p:nvPr/>
        </p:nvSpPr>
        <p:spPr>
          <a:xfrm>
            <a:off x="5029200" y="329184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HACKATHON 2026  /  ROUND 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lang="en-GB" sz="800" b="0" i="0" u="none" strike="noStrike" cap="none" dirty="0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404Slayers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6858000" y="475488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04 / 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457200" y="73152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DM Mono"/>
              <a:buNone/>
            </a:pPr>
            <a:r>
              <a:rPr lang="en-GB" sz="9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03  ·  THE SOLUTION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DM Sans"/>
              <a:buNone/>
            </a:pPr>
            <a:r>
              <a:rPr lang="en-GB" sz="28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Our solution</a:t>
            </a:r>
            <a:r>
              <a:rPr lang="en-GB" sz="2800" b="1" i="0" u="none" strike="noStrike" cap="none">
                <a:solidFill>
                  <a:srgbClr val="70707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457200" y="164592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131313"/>
          </a:solidFill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8"/>
          <p:cNvSpPr txBox="1"/>
          <p:nvPr/>
        </p:nvSpPr>
        <p:spPr>
          <a:xfrm>
            <a:off x="685800" y="184708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IN ONE LINE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685800" y="21031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707070"/>
              </a:buClr>
              <a:buSzPts val="1200"/>
            </a:pPr>
            <a:r>
              <a:rPr lang="en-IN" sz="1200" b="1" dirty="0">
                <a:solidFill>
                  <a:schemeClr val="bg1">
                    <a:lumMod val="50000"/>
                  </a:schemeClr>
                </a:solidFill>
              </a:rPr>
              <a:t>Our project Chainguard, is an explainable cross-chain reputation and threat engine helping Web3 users and protocols verify unknown addresses before transacting</a:t>
            </a:r>
            <a:r>
              <a:rPr lang="en-IN" sz="1200" dirty="0"/>
              <a:t>.</a:t>
            </a:r>
            <a:r>
              <a:rPr lang="en-GB" sz="1200" b="0" i="0" u="none" strike="noStrike" cap="none" dirty="0">
                <a:solidFill>
                  <a:srgbClr val="70707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457200" y="2834640"/>
            <a:ext cx="4023360" cy="1920240"/>
          </a:xfrm>
          <a:prstGeom prst="roundRect">
            <a:avLst>
              <a:gd name="adj" fmla="val 6667"/>
            </a:avLst>
          </a:prstGeom>
          <a:solidFill>
            <a:srgbClr val="0B0B0B"/>
          </a:solidFill>
          <a:ln w="9525" cap="flat" cmpd="sng">
            <a:solidFill>
              <a:srgbClr val="2121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8"/>
          <p:cNvSpPr txBox="1"/>
          <p:nvPr/>
        </p:nvSpPr>
        <p:spPr>
          <a:xfrm>
            <a:off x="685800" y="2944368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 dirty="0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KEY FEATURES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622300" y="3093212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lvl="0" indent="-171450">
              <a:buClr>
                <a:srgbClr val="707070"/>
              </a:buClr>
              <a:buSzPts val="1200"/>
              <a:buFont typeface="Wingdings" panose="05000000000000000000" pitchFamily="2" charset="2"/>
              <a:buChar char="§"/>
            </a:pPr>
            <a:r>
              <a:rPr lang="en-IN" sz="1200" b="1" dirty="0">
                <a:solidFill>
                  <a:schemeClr val="bg1">
                    <a:lumMod val="50000"/>
                  </a:schemeClr>
                </a:solidFill>
              </a:rPr>
              <a:t>Explainable Risk Score .</a:t>
            </a:r>
          </a:p>
          <a:p>
            <a:pPr lvl="0">
              <a:buClr>
                <a:srgbClr val="707070"/>
              </a:buClr>
              <a:buSzPts val="1200"/>
            </a:pPr>
            <a:r>
              <a:rPr lang="en-IN" sz="12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IN" sz="1000" dirty="0">
                <a:solidFill>
                  <a:schemeClr val="bg1">
                    <a:lumMod val="50000"/>
                  </a:schemeClr>
                </a:solidFill>
              </a:rPr>
              <a:t>Deterministic 0–100 reputation score with transparent risk signals.</a:t>
            </a:r>
            <a:endParaRPr lang="en-IN" sz="1000" b="1" i="0" u="none" strike="noStrike" cap="none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buClr>
                <a:srgbClr val="707070"/>
              </a:buClr>
              <a:buSzPts val="1200"/>
              <a:buFont typeface="Wingdings" panose="05000000000000000000" pitchFamily="2" charset="2"/>
              <a:buChar char="§"/>
            </a:pPr>
            <a:r>
              <a:rPr lang="en-IN" sz="1200" b="1" dirty="0">
                <a:solidFill>
                  <a:schemeClr val="bg1">
                    <a:lumMod val="50000"/>
                  </a:schemeClr>
                </a:solidFill>
              </a:rPr>
              <a:t>On-Chain Evidence.</a:t>
            </a:r>
          </a:p>
          <a:p>
            <a:pPr lvl="1">
              <a:buClr>
                <a:srgbClr val="707070"/>
              </a:buClr>
              <a:buSzPts val="1200"/>
            </a:pPr>
            <a:r>
              <a:rPr lang="en-IN" sz="1000" dirty="0" err="1">
                <a:solidFill>
                  <a:schemeClr val="bg1">
                    <a:lumMod val="50000"/>
                  </a:schemeClr>
                </a:solidFill>
              </a:rPr>
              <a:t>Analyzes</a:t>
            </a:r>
            <a:r>
              <a:rPr lang="en-IN" sz="1000" dirty="0">
                <a:solidFill>
                  <a:schemeClr val="bg1">
                    <a:lumMod val="50000"/>
                  </a:schemeClr>
                </a:solidFill>
              </a:rPr>
              <a:t> transactions, counterparties, contract interactions and threat intelligence</a:t>
            </a:r>
            <a:r>
              <a:rPr lang="en-IN" sz="1200" dirty="0"/>
              <a:t>.</a:t>
            </a:r>
            <a:endParaRPr lang="en-IN" sz="1200" b="1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buClr>
                <a:srgbClr val="707070"/>
              </a:buClr>
              <a:buSzPts val="1200"/>
              <a:buFont typeface="Wingdings" panose="05000000000000000000" pitchFamily="2" charset="2"/>
              <a:buChar char="§"/>
            </a:pPr>
            <a:r>
              <a:rPr lang="en-IN" sz="1200" b="1" dirty="0">
                <a:solidFill>
                  <a:schemeClr val="bg1">
                    <a:lumMod val="50000"/>
                  </a:schemeClr>
                </a:solidFill>
              </a:rPr>
              <a:t>Interaction Graph.</a:t>
            </a:r>
          </a:p>
          <a:p>
            <a:pPr lvl="0">
              <a:buClr>
                <a:srgbClr val="707070"/>
              </a:buClr>
              <a:buSzPts val="1200"/>
            </a:pPr>
            <a:r>
              <a:rPr lang="en-IN" sz="1000" dirty="0">
                <a:solidFill>
                  <a:schemeClr val="bg1">
                    <a:lumMod val="50000"/>
                  </a:schemeClr>
                </a:solidFill>
              </a:rPr>
              <a:t>Visualizes relationships between the target address, wallets, contracts and flagged entities.</a:t>
            </a:r>
            <a:endParaRPr lang="en-IN" sz="1000" b="1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4663440" y="283464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0B0B0B"/>
          </a:solidFill>
          <a:ln w="9525" cap="flat" cmpd="sng">
            <a:solidFill>
              <a:srgbClr val="2121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8"/>
          <p:cNvSpPr txBox="1"/>
          <p:nvPr/>
        </p:nvSpPr>
        <p:spPr>
          <a:xfrm>
            <a:off x="4892040" y="3035808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WHAT MAKES IT DIFFERENT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4892040" y="3291840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707070"/>
              </a:buClr>
              <a:buSzPts val="1200"/>
            </a:pPr>
            <a:r>
              <a:rPr lang="en-IN" sz="1200" b="1" dirty="0">
                <a:solidFill>
                  <a:schemeClr val="bg1">
                    <a:lumMod val="50000"/>
                  </a:schemeClr>
                </a:solidFill>
              </a:rPr>
              <a:t>Instead of assigning black-box "good" or "bad" scores, it delivers granular, verifiable evidence tracing exact transaction pathways and dormant contract exploit vectors across chains.</a:t>
            </a:r>
            <a:endParaRPr sz="1200" b="1" i="0" u="none" strike="noStrike" cap="none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9" descr="/private/tmp/claude-501/-Users-gauthampharish-Hackathon/a8b21bb2-63c7-4790-96ac-9605a5beff0c/scratchpad/assets/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310896"/>
            <a:ext cx="868680" cy="229657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 txBox="1"/>
          <p:nvPr/>
        </p:nvSpPr>
        <p:spPr>
          <a:xfrm>
            <a:off x="5029200" y="329184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HACKATHON 2026  /  ROUND 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lang="en-GB" sz="800" b="0" i="0" u="none" strike="noStrike" cap="none" dirty="0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404Slayers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6858000" y="475488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05 / 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457200" y="73152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DM Mono"/>
              <a:buNone/>
            </a:pPr>
            <a:r>
              <a:rPr lang="en-GB" sz="9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04  ·  HOW IT 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DM Sans"/>
              <a:buNone/>
            </a:pPr>
            <a:r>
              <a:rPr lang="en-GB" sz="28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How it works</a:t>
            </a:r>
            <a:r>
              <a:rPr lang="en-GB" sz="2800" b="1" i="0" u="none" strike="noStrike" cap="none">
                <a:solidFill>
                  <a:srgbClr val="70707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457200" y="1645920"/>
            <a:ext cx="5120640" cy="2834640"/>
          </a:xfrm>
          <a:prstGeom prst="roundRect">
            <a:avLst>
              <a:gd name="adj" fmla="val 3871"/>
            </a:avLst>
          </a:prstGeom>
          <a:solidFill>
            <a:srgbClr val="0B0B0B"/>
          </a:solidFill>
          <a:ln w="9525" cap="flat" cmpd="sng">
            <a:solidFill>
              <a:srgbClr val="2121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9"/>
          <p:cNvSpPr txBox="1"/>
          <p:nvPr/>
        </p:nvSpPr>
        <p:spPr>
          <a:xfrm>
            <a:off x="685800" y="184708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ARCHITECTURE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685800" y="2148840"/>
            <a:ext cx="4663440" cy="2103120"/>
          </a:xfrm>
          <a:prstGeom prst="roundRect">
            <a:avLst>
              <a:gd name="adj" fmla="val 3478"/>
            </a:avLst>
          </a:prstGeom>
          <a:solidFill>
            <a:srgbClr val="000000"/>
          </a:solidFill>
          <a:ln w="9525" cap="flat" cmpd="sng">
            <a:solidFill>
              <a:srgbClr val="47474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9"/>
          <p:cNvSpPr txBox="1"/>
          <p:nvPr/>
        </p:nvSpPr>
        <p:spPr>
          <a:xfrm>
            <a:off x="685800" y="2148840"/>
            <a:ext cx="466344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200"/>
              <a:buFont typeface="DM Sans"/>
              <a:buNone/>
            </a:pPr>
            <a:r>
              <a:rPr lang="en-GB" sz="1200" b="0" i="0" u="none" strike="noStrike" cap="none">
                <a:solidFill>
                  <a:srgbClr val="707070"/>
                </a:solidFill>
                <a:latin typeface="DM Sans"/>
                <a:ea typeface="DM Sans"/>
                <a:cs typeface="DM Sans"/>
                <a:sym typeface="DM Sans"/>
              </a:rPr>
              <a:t>Add a simple block diagram here.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5760720" y="1645920"/>
            <a:ext cx="2926080" cy="2834640"/>
          </a:xfrm>
          <a:prstGeom prst="roundRect">
            <a:avLst>
              <a:gd name="adj" fmla="val 3871"/>
            </a:avLst>
          </a:prstGeom>
          <a:solidFill>
            <a:srgbClr val="0B0B0B"/>
          </a:solidFill>
          <a:ln w="9525" cap="flat" cmpd="sng">
            <a:solidFill>
              <a:srgbClr val="2121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9"/>
          <p:cNvSpPr txBox="1"/>
          <p:nvPr/>
        </p:nvSpPr>
        <p:spPr>
          <a:xfrm>
            <a:off x="5989320" y="1847088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TECH STACK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5989320" y="2103120"/>
            <a:ext cx="246888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IN" sz="1200" b="1" dirty="0">
                <a:solidFill>
                  <a:schemeClr val="bg1">
                    <a:lumMod val="50000"/>
                  </a:schemeClr>
                </a:solidFill>
              </a:rPr>
              <a:t>Backend : </a:t>
            </a:r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Python , </a:t>
            </a:r>
            <a:r>
              <a:rPr lang="en-IN" sz="1200" dirty="0" err="1">
                <a:solidFill>
                  <a:schemeClr val="bg1">
                    <a:lumMod val="50000"/>
                  </a:schemeClr>
                </a:solidFill>
              </a:rPr>
              <a:t>FastAPI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  <a:p>
            <a:pPr lvl="0"/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  <a:p>
            <a:pPr lvl="0"/>
            <a:r>
              <a:rPr lang="en-IN" sz="1200" b="1" dirty="0">
                <a:solidFill>
                  <a:schemeClr val="bg1">
                    <a:lumMod val="50000"/>
                  </a:schemeClr>
                </a:solidFill>
              </a:rPr>
              <a:t>Blockchain : </a:t>
            </a:r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Ethereum , </a:t>
            </a:r>
            <a:r>
              <a:rPr lang="en-IN" sz="1200" dirty="0" err="1">
                <a:solidFill>
                  <a:schemeClr val="bg1">
                    <a:lumMod val="50000"/>
                  </a:schemeClr>
                </a:solidFill>
              </a:rPr>
              <a:t>Etherscan</a:t>
            </a:r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 API , Demo blockchain provide</a:t>
            </a:r>
          </a:p>
          <a:p>
            <a:pPr lvl="0"/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  <a:p>
            <a:pPr lvl="0"/>
            <a:r>
              <a:rPr lang="en-IN" sz="1200" b="1" dirty="0">
                <a:solidFill>
                  <a:schemeClr val="bg1">
                    <a:lumMod val="50000"/>
                  </a:schemeClr>
                </a:solidFill>
              </a:rPr>
              <a:t>Risk Engine : </a:t>
            </a:r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Deterministic rule-based scoring , Threat intelligence , </a:t>
            </a:r>
          </a:p>
          <a:p>
            <a:pPr lvl="0"/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graph analysis.</a:t>
            </a:r>
          </a:p>
          <a:p>
            <a:pPr lvl="0"/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  <a:p>
            <a:pPr lvl="0"/>
            <a:r>
              <a:rPr lang="en-IN" sz="1200" b="1" dirty="0">
                <a:solidFill>
                  <a:schemeClr val="bg1">
                    <a:lumMod val="50000"/>
                  </a:schemeClr>
                </a:solidFill>
              </a:rPr>
              <a:t>Frontend : </a:t>
            </a:r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 HTML , CSS , JS ,</a:t>
            </a:r>
          </a:p>
          <a:p>
            <a:pPr lvl="0"/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SVG interaction graph.</a:t>
            </a:r>
          </a:p>
          <a:p>
            <a:pPr lvl="0"/>
            <a:r>
              <a:rPr lang="en-IN" sz="12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  <a:p>
            <a:pPr lvl="0"/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  <a:p>
            <a:pPr lvl="0"/>
            <a:r>
              <a:rPr lang="en-IN" sz="1200" dirty="0"/>
              <a:t>r</a:t>
            </a:r>
          </a:p>
          <a:p>
            <a:pPr lvl="0"/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87ACB1-2D19-0265-F550-1D6216B99E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5870" y="2194560"/>
            <a:ext cx="30861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0" descr="/private/tmp/claude-501/-Users-gauthampharish-Hackathon/a8b21bb2-63c7-4790-96ac-9605a5beff0c/scratchpad/assets/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310896"/>
            <a:ext cx="868680" cy="229657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0"/>
          <p:cNvSpPr txBox="1"/>
          <p:nvPr/>
        </p:nvSpPr>
        <p:spPr>
          <a:xfrm>
            <a:off x="5029200" y="329184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HACKATHON 2026  /  ROUND 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0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lang="en-GB" sz="800" b="0" i="0" u="none" strike="noStrike" cap="none" dirty="0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404Slayers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6858000" y="475488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06 / 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457200" y="73152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DM Mono"/>
              <a:buNone/>
            </a:pPr>
            <a:r>
              <a:rPr lang="en-GB" sz="9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05  ·  BUSINESS MODEL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DM Sans"/>
              <a:buNone/>
            </a:pPr>
            <a:r>
              <a:rPr lang="en-GB" sz="28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Business model</a:t>
            </a:r>
            <a:r>
              <a:rPr lang="en-GB" sz="2800" b="1" i="0" u="none" strike="noStrike" cap="none">
                <a:solidFill>
                  <a:srgbClr val="70707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457200" y="164592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0B0B0B"/>
          </a:solidFill>
          <a:ln w="9525" cap="flat" cmpd="sng">
            <a:solidFill>
              <a:srgbClr val="2121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0"/>
          <p:cNvSpPr txBox="1"/>
          <p:nvPr/>
        </p:nvSpPr>
        <p:spPr>
          <a:xfrm>
            <a:off x="685800" y="184708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WHO IT IS FOR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685800" y="2103120"/>
            <a:ext cx="219456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lvl="0" indent="-171450">
              <a:buClr>
                <a:srgbClr val="707070"/>
              </a:buClr>
              <a:buSzPts val="1200"/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bg1">
                    <a:lumMod val="50000"/>
                  </a:schemeClr>
                </a:solidFill>
              </a:rPr>
              <a:t>Individual Web3 Users</a:t>
            </a:r>
            <a:r>
              <a:rPr lang="en-GB" sz="1200" b="1" dirty="0">
                <a:solidFill>
                  <a:srgbClr val="707070"/>
                </a:solidFill>
                <a:latin typeface="DM Sans"/>
                <a:sym typeface="DM Sans"/>
              </a:rPr>
              <a:t>.</a:t>
            </a:r>
          </a:p>
          <a:p>
            <a:pPr lvl="0">
              <a:buClr>
                <a:srgbClr val="707070"/>
              </a:buClr>
              <a:buSzPts val="1200"/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Check wallets/contracts before interacting.</a:t>
            </a:r>
            <a:endParaRPr lang="en-GB" sz="1200" dirty="0">
              <a:solidFill>
                <a:schemeClr val="bg1">
                  <a:lumMod val="50000"/>
                </a:schemeClr>
              </a:solidFill>
              <a:latin typeface="DM Sans"/>
              <a:sym typeface="DM Sans"/>
            </a:endParaRPr>
          </a:p>
          <a:p>
            <a:pPr marL="171450" lvl="0" indent="-171450">
              <a:buClr>
                <a:srgbClr val="707070"/>
              </a:buClr>
              <a:buSzPts val="1200"/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rgbClr val="707070"/>
                </a:solidFill>
                <a:latin typeface="DM Sans"/>
                <a:ea typeface="Calibri"/>
                <a:cs typeface="Calibri"/>
                <a:sym typeface="DM Sans"/>
              </a:rPr>
              <a:t>Web3 Applications</a:t>
            </a:r>
          </a:p>
          <a:p>
            <a:pPr lvl="0">
              <a:buClr>
                <a:srgbClr val="707070"/>
              </a:buClr>
              <a:buSzPts val="1200"/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Screen users, counterparties and contracts.</a:t>
            </a:r>
            <a:endParaRPr lang="en-GB" sz="1200" b="1" dirty="0">
              <a:solidFill>
                <a:schemeClr val="bg1">
                  <a:lumMod val="50000"/>
                </a:schemeClr>
              </a:solidFill>
              <a:latin typeface="DM Sans"/>
              <a:ea typeface="Calibri"/>
              <a:cs typeface="Calibri"/>
              <a:sym typeface="DM Sans"/>
            </a:endParaRPr>
          </a:p>
          <a:p>
            <a:pPr marL="171450" lvl="0" indent="-171450">
              <a:buClr>
                <a:srgbClr val="707070"/>
              </a:buClr>
              <a:buSzPts val="1200"/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rgbClr val="707070"/>
                </a:solidFill>
                <a:latin typeface="DM Sans"/>
                <a:ea typeface="Calibri"/>
                <a:cs typeface="Calibri"/>
                <a:sym typeface="DM Sans"/>
              </a:rPr>
              <a:t>Security / compliance teams.</a:t>
            </a:r>
          </a:p>
          <a:p>
            <a:pPr lvl="0">
              <a:buClr>
                <a:srgbClr val="707070"/>
              </a:buClr>
              <a:buSzPts val="1200"/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Monitor address reputation and investigate suspicious activity</a:t>
            </a:r>
            <a:r>
              <a:rPr lang="en-IN" sz="1200" dirty="0"/>
              <a:t>.</a:t>
            </a:r>
            <a:endParaRPr lang="en-GB" sz="1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3246120" y="164592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131313"/>
          </a:solidFill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0"/>
          <p:cNvSpPr txBox="1"/>
          <p:nvPr/>
        </p:nvSpPr>
        <p:spPr>
          <a:xfrm>
            <a:off x="3474720" y="184708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HOW IT EARNS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3474720" y="2039112"/>
            <a:ext cx="219456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707070"/>
              </a:buClr>
              <a:buSzPts val="1200"/>
            </a:pPr>
            <a:r>
              <a:rPr lang="en-IN" sz="1200" b="1" dirty="0">
                <a:solidFill>
                  <a:schemeClr val="bg1">
                    <a:lumMod val="50000"/>
                  </a:schemeClr>
                </a:solidFill>
              </a:rPr>
              <a:t>Use a simple freemium + API model.</a:t>
            </a:r>
            <a:endParaRPr lang="en-IN" sz="1200" b="1" i="0" u="none" strike="noStrike" cap="none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buClr>
                <a:srgbClr val="707070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</a:p>
          <a:p>
            <a:pPr lvl="0">
              <a:buClr>
                <a:srgbClr val="707070"/>
              </a:buClr>
              <a:buSzPts val="1200"/>
            </a:pPr>
            <a:r>
              <a:rPr lang="en-IN" sz="1000" dirty="0">
                <a:solidFill>
                  <a:schemeClr val="bg1">
                    <a:lumMod val="50000"/>
                  </a:schemeClr>
                </a:solidFill>
              </a:rPr>
              <a:t>Limited address checks through the </a:t>
            </a:r>
            <a:r>
              <a:rPr lang="en-IN" sz="1000" dirty="0" err="1">
                <a:solidFill>
                  <a:schemeClr val="bg1">
                    <a:lumMod val="50000"/>
                  </a:schemeClr>
                </a:solidFill>
              </a:rPr>
              <a:t>ChainGuard</a:t>
            </a:r>
            <a:r>
              <a:rPr lang="en-IN" sz="1000" dirty="0">
                <a:solidFill>
                  <a:schemeClr val="bg1">
                    <a:lumMod val="50000"/>
                  </a:schemeClr>
                </a:solidFill>
              </a:rPr>
              <a:t> dashboard.</a:t>
            </a:r>
            <a:endParaRPr lang="en-US" sz="1000" b="1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buClr>
                <a:srgbClr val="707070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Pro/Developer</a:t>
            </a:r>
          </a:p>
          <a:p>
            <a:pPr lvl="0">
              <a:buClr>
                <a:srgbClr val="707070"/>
              </a:buClr>
              <a:buSzPts val="1200"/>
            </a:pPr>
            <a:r>
              <a:rPr lang="en-IN" sz="1000" dirty="0">
                <a:solidFill>
                  <a:schemeClr val="bg1">
                    <a:lumMod val="50000"/>
                  </a:schemeClr>
                </a:solidFill>
              </a:rPr>
              <a:t>Subscription for higher analysis limits, deeper history and advanced reputation data</a:t>
            </a:r>
            <a:r>
              <a:rPr lang="en-IN" sz="1100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en-US" sz="1100" b="1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buClr>
                <a:srgbClr val="707070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200" b="1" i="0" u="none" strike="noStrike" cap="none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API</a:t>
            </a:r>
          </a:p>
          <a:p>
            <a:pPr lvl="0">
              <a:buClr>
                <a:srgbClr val="707070"/>
              </a:buClr>
              <a:buSzPts val="1200"/>
            </a:pPr>
            <a:r>
              <a:rPr lang="en-IN" sz="1000" dirty="0">
                <a:solidFill>
                  <a:schemeClr val="bg1">
                    <a:lumMod val="50000"/>
                  </a:schemeClr>
                </a:solidFill>
              </a:rPr>
              <a:t>Pay-per-request / usage-based API for wallets, exchanges, DeFi protocols and security platforms</a:t>
            </a:r>
            <a:r>
              <a:rPr lang="en-IN" sz="1200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sz="1200" b="1" i="0" u="none" strike="noStrike" cap="none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6035040" y="164592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0B0B0B"/>
          </a:solidFill>
          <a:ln w="9525" cap="flat" cmpd="sng">
            <a:solidFill>
              <a:srgbClr val="2121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0"/>
          <p:cNvSpPr txBox="1"/>
          <p:nvPr/>
        </p:nvSpPr>
        <p:spPr>
          <a:xfrm>
            <a:off x="6263640" y="184708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IMPACT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6263640" y="2103120"/>
            <a:ext cx="219456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sz="1200" b="1" dirty="0">
                <a:solidFill>
                  <a:schemeClr val="bg1">
                    <a:lumMod val="50000"/>
                  </a:schemeClr>
                </a:solidFill>
              </a:rPr>
              <a:t>Reduce risk before interaction</a:t>
            </a:r>
            <a:br>
              <a:rPr lang="en-IN" sz="12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N" sz="1050" dirty="0">
                <a:solidFill>
                  <a:schemeClr val="bg1">
                    <a:lumMod val="50000"/>
                  </a:schemeClr>
                </a:solidFill>
              </a:rPr>
              <a:t>Give users actionable information before they sign or transact.</a:t>
            </a:r>
          </a:p>
          <a:p>
            <a:endParaRPr lang="en-IN" sz="105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sz="1200" b="1" dirty="0">
                <a:solidFill>
                  <a:schemeClr val="bg1">
                    <a:lumMod val="50000"/>
                  </a:schemeClr>
                </a:solidFill>
              </a:rPr>
              <a:t>Turn blockchain transparency into usable intelligence</a:t>
            </a:r>
            <a:br>
              <a:rPr lang="en-IN" sz="12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N" sz="1050" dirty="0">
                <a:solidFill>
                  <a:schemeClr val="bg1">
                    <a:lumMod val="50000"/>
                  </a:schemeClr>
                </a:solidFill>
              </a:rPr>
              <a:t>Convert raw transaction history into understandable risk evidence.</a:t>
            </a:r>
          </a:p>
          <a:p>
            <a:endParaRPr lang="en-IN" sz="105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N" sz="1200" b="1" dirty="0">
                <a:solidFill>
                  <a:schemeClr val="bg1">
                    <a:lumMod val="50000"/>
                  </a:schemeClr>
                </a:solidFill>
              </a:rPr>
              <a:t>Enable safer Web3 applications</a:t>
            </a:r>
            <a:br>
              <a:rPr lang="en-IN" sz="12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N" sz="1050" dirty="0">
                <a:solidFill>
                  <a:schemeClr val="bg1">
                    <a:lumMod val="50000"/>
                  </a:schemeClr>
                </a:solidFill>
              </a:rPr>
              <a:t>Allow platforms to integrate address reputation into their own workflows.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 txBox="1"/>
          <p:nvPr/>
        </p:nvSpPr>
        <p:spPr>
          <a:xfrm>
            <a:off x="457200" y="32004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MULTIPLI HACKATHON  / 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1"/>
          <p:cNvSpPr txBox="1"/>
          <p:nvPr/>
        </p:nvSpPr>
        <p:spPr>
          <a:xfrm>
            <a:off x="5029200" y="32004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BUILT FOR THE BUILDERS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21" descr="/private/tmp/claude-501/-Users-gauthampharish-Hackathon/a8b21bb2-63c7-4790-96ac-9605a5beff0c/scratchpad/assets/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49040" y="1508760"/>
            <a:ext cx="1645920" cy="43514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1"/>
          <p:cNvSpPr txBox="1"/>
          <p:nvPr/>
        </p:nvSpPr>
        <p:spPr>
          <a:xfrm>
            <a:off x="914400" y="233172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DM Sans"/>
              <a:buNone/>
            </a:pPr>
            <a:r>
              <a:rPr lang="en-GB" sz="44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Thank you</a:t>
            </a:r>
            <a:r>
              <a:rPr lang="en-GB" sz="4400" b="1" i="0" u="none" strike="noStrike" cap="none">
                <a:solidFill>
                  <a:srgbClr val="70707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1"/>
          <p:cNvSpPr txBox="1"/>
          <p:nvPr/>
        </p:nvSpPr>
        <p:spPr>
          <a:xfrm>
            <a:off x="457200" y="464515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19–20 SEPTEMBER 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21"/>
          <p:cNvCxnSpPr/>
          <p:nvPr/>
        </p:nvCxnSpPr>
        <p:spPr>
          <a:xfrm>
            <a:off x="2926080" y="4736592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21"/>
          <p:cNvSpPr txBox="1"/>
          <p:nvPr/>
        </p:nvSpPr>
        <p:spPr>
          <a:xfrm>
            <a:off x="5943600" y="464515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THINK. BUILD. MULTIPLI.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586</Words>
  <Application>Microsoft Office PowerPoint</Application>
  <PresentationFormat>On-screen Show (16:9)</PresentationFormat>
  <Paragraphs>117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Calibri</vt:lpstr>
      <vt:lpstr>Wingdings</vt:lpstr>
      <vt:lpstr>DM Mono</vt:lpstr>
      <vt:lpstr>DM Sans</vt:lpstr>
      <vt:lpstr>Arial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Sanchit Agarwal</cp:lastModifiedBy>
  <cp:revision>6</cp:revision>
  <dcterms:modified xsi:type="dcterms:W3CDTF">2026-09-19T07:32:15Z</dcterms:modified>
</cp:coreProperties>
</file>